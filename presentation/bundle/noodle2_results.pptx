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4A90E2"/>
                </a:solidFill>
              </a:defRPr>
            </a:pPr>
            <a:r>
              <a:t>Noodle2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50C878"/>
                </a:solidFill>
              </a:defRPr>
            </a:pPr>
            <a:r>
              <a:t>Physical Design ECO Orchestration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EEEEEE"/>
                </a:solidFill>
              </a:defRPr>
            </a:pPr>
            <a:r>
              <a:t>Yaakoub Elkhamra, PhD</a:t>
            </a:r>
          </a:p>
          <a:p>
            <a:pPr algn="ctr">
              <a:defRPr sz="1600">
                <a:solidFill>
                  <a:srgbClr val="EEEEEE"/>
                </a:solidFill>
              </a:defRPr>
            </a:pPr>
            <a:r>
              <a:t>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A90E2"/>
                </a:solidFill>
              </a:defRPr>
            </a:pPr>
            <a:r>
              <a:t>What is Noodle2?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800">
                <a:solidFill>
                  <a:srgbClr val="FFD700"/>
                </a:solidFill>
              </a:rPr>
              <a:t>ECO Orchestration System</a:t>
            </a:r>
            <a:r>
              <a:rPr sz="1800">
                <a:solidFill>
                  <a:srgbClr val="EEEEEE"/>
                </a:solidFill>
              </a:rPr>
              <a:t> for physical design timing closure</a:t>
            </a:r>
          </a:p>
          <a:p>
            <a:pPr>
              <a:spcAft>
                <a:spcPts val="800"/>
              </a:spcAft>
              <a:defRPr sz="1800">
                <a:solidFill>
                  <a:srgbClr val="EEEEEE"/>
                </a:solidFill>
              </a:defRPr>
            </a:pPr>
            <a:r>
              <a:t>Automatically applies and evaluates **Engineering Change Orders**</a:t>
            </a:r>
          </a:p>
          <a:p>
            <a:pPr>
              <a:spcAft>
                <a:spcPts val="800"/>
              </a:spcAft>
              <a:defRPr sz="1800">
                <a:solidFill>
                  <a:srgbClr val="EEEEEE"/>
                </a:solidFill>
              </a:defRPr>
            </a:pPr>
            <a:r>
              <a:t>Uses **parallel execution** with Ray for trial exploration</a:t>
            </a:r>
          </a:p>
          <a:p>
            <a:pPr>
              <a:spcAft>
                <a:spcPts val="800"/>
              </a:spcAft>
              <a:defRPr sz="1800">
                <a:solidFill>
                  <a:srgbClr val="EEEEEE"/>
                </a:solidFill>
              </a:defRPr>
            </a:pPr>
            <a:r>
              <a:t>Implements **prior learning** to avoid ineffective ECOs</a:t>
            </a:r>
          </a:p>
          <a:p>
            <a:pPr>
              <a:spcAft>
                <a:spcPts val="800"/>
              </a:spcAft>
              <a:defRPr sz="1800">
                <a:solidFill>
                  <a:srgbClr val="EEEEEE"/>
                </a:solidFill>
              </a:defRPr>
            </a:pPr>
            <a:r>
              <a:t>Supports **checkpoint/rollback** for robustness</a:t>
            </a:r>
          </a:p>
          <a:p>
            <a:pPr>
              <a:spcAft>
                <a:spcPts val="800"/>
              </a:spcAft>
              <a:defRPr sz="1800">
                <a:solidFill>
                  <a:srgbClr val="EEEEEE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EEEEEE"/>
                </a:solidFill>
              </a:defRPr>
            </a:pPr>
            <a:r>
              <a:t>All results from REAL OpenROAD execution - no mocking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A90E2"/>
                </a:solidFill>
              </a:defRPr>
            </a:pPr>
            <a:r>
              <a:t>Technology Stack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103120.0" y="1188720"/>
          <a:ext cx="49377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4A90E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Orchestration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Noodle2 (Python)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ECO selection, survivor management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Parallelism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Ray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Distributed trial execution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EDA Engine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OpenROAD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Physical design, timing analysis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Build Flow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ORFS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Synthesis, placement, routing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PDKs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Nangate45, ASAP7, Sky130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Process design kits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A90E2"/>
                </a:solidFill>
              </a:defRPr>
            </a:pPr>
            <a:r>
              <a:t>OpenROAD - The EDA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800">
                <a:solidFill>
                  <a:srgbClr val="FFD700"/>
                </a:solidFill>
              </a:rPr>
              <a:t>OpenSTA</a:t>
            </a:r>
            <a:r>
              <a:rPr sz="1800">
                <a:solidFill>
                  <a:srgbClr val="EEEEEE"/>
                </a:solidFill>
              </a:rPr>
              <a:t> - Static Timing Analysis (WNS, TNS, hot_ratio)</a:t>
            </a:r>
          </a:p>
          <a:p>
            <a:pPr>
              <a:spcAft>
                <a:spcPts val="800"/>
              </a:spcAft>
            </a:pPr>
            <a:r>
              <a:rPr b="1" sz="1800">
                <a:solidFill>
                  <a:srgbClr val="FFD700"/>
                </a:solidFill>
              </a:rPr>
              <a:t>TritonPlace</a:t>
            </a:r>
            <a:r>
              <a:rPr sz="1800">
                <a:solidFill>
                  <a:srgbClr val="EEEEEE"/>
                </a:solidFill>
              </a:rPr>
              <a:t> - Global and detailed placement</a:t>
            </a:r>
          </a:p>
          <a:p>
            <a:pPr>
              <a:spcAft>
                <a:spcPts val="800"/>
              </a:spcAft>
            </a:pPr>
            <a:r>
              <a:rPr b="1" sz="1800">
                <a:solidFill>
                  <a:srgbClr val="FFD700"/>
                </a:solidFill>
              </a:rPr>
              <a:t>FastRoute</a:t>
            </a:r>
            <a:r>
              <a:rPr sz="1800">
                <a:solidFill>
                  <a:srgbClr val="EEEEEE"/>
                </a:solidFill>
              </a:rPr>
              <a:t> - Global routing</a:t>
            </a:r>
          </a:p>
          <a:p>
            <a:pPr>
              <a:spcAft>
                <a:spcPts val="800"/>
              </a:spcAft>
            </a:pPr>
            <a:r>
              <a:rPr b="1" sz="1800">
                <a:solidFill>
                  <a:srgbClr val="FFD700"/>
                </a:solidFill>
              </a:rPr>
              <a:t>TritonRoute</a:t>
            </a:r>
            <a:r>
              <a:rPr sz="1800">
                <a:solidFill>
                  <a:srgbClr val="EEEEEE"/>
                </a:solidFill>
              </a:rPr>
              <a:t> - Detailed routing</a:t>
            </a:r>
          </a:p>
          <a:p>
            <a:pPr>
              <a:spcAft>
                <a:spcPts val="800"/>
              </a:spcAft>
            </a:pPr>
            <a:r>
              <a:rPr b="1" sz="1800">
                <a:solidFill>
                  <a:srgbClr val="FFD700"/>
                </a:solidFill>
              </a:rPr>
              <a:t>ReSizer</a:t>
            </a:r>
            <a:r>
              <a:rPr sz="1800">
                <a:solidFill>
                  <a:srgbClr val="EEEEEE"/>
                </a:solidFill>
              </a:rPr>
              <a:t> - Gate sizing, buffer insertion</a:t>
            </a:r>
          </a:p>
          <a:p>
            <a:pPr>
              <a:spcAft>
                <a:spcPts val="800"/>
              </a:spcAft>
              <a:defRPr sz="1800">
                <a:solidFill>
                  <a:srgbClr val="EEEEEE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EEEEEE"/>
                </a:solidFill>
              </a:defRPr>
            </a:pPr>
            <a:r>
              <a:t>Production-quality, reproducible, open-source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A90E2"/>
                </a:solidFill>
              </a:defRPr>
            </a:pPr>
            <a:r>
              <a:t>Ray - Distributed Parallel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800">
                <a:solidFill>
                  <a:srgbClr val="FFD700"/>
                </a:solidFill>
              </a:rPr>
              <a:t>Single-Node Mode:</a:t>
            </a:r>
            <a:r>
              <a:rPr sz="1800">
                <a:solidFill>
                  <a:srgbClr val="EEEEEE"/>
                </a:solidFill>
              </a:rPr>
              <a:t> 25 trials per stage in parallel</a:t>
            </a:r>
          </a:p>
          <a:p>
            <a:pPr>
              <a:spcAft>
                <a:spcPts val="800"/>
              </a:spcAft>
              <a:defRPr sz="1800">
                <a:solidFill>
                  <a:srgbClr val="EEEEEE"/>
                </a:solidFill>
              </a:defRPr>
            </a:pPr>
            <a:r>
              <a:t>Utilizes all CPU cores (32 cores in demo)</a:t>
            </a:r>
          </a:p>
          <a:p>
            <a:pPr>
              <a:spcAft>
                <a:spcPts val="800"/>
              </a:spcAft>
              <a:defRPr sz="1800">
                <a:solidFill>
                  <a:srgbClr val="EEEEEE"/>
                </a:solidFill>
              </a:defRPr>
            </a:pPr>
            <a:r>
              <a:t>Shared memory for ODB file access</a:t>
            </a:r>
          </a:p>
          <a:p>
            <a:pPr>
              <a:spcAft>
                <a:spcPts val="800"/>
              </a:spcAft>
              <a:defRPr sz="1800">
                <a:solidFill>
                  <a:srgbClr val="EEEEEE"/>
                </a:solidFill>
              </a:defRPr>
            </a:pPr>
          </a:p>
          <a:p>
            <a:pPr>
              <a:spcAft>
                <a:spcPts val="800"/>
              </a:spcAft>
            </a:pPr>
            <a:r>
              <a:rPr b="1" sz="1800">
                <a:solidFill>
                  <a:srgbClr val="FFD700"/>
                </a:solidFill>
              </a:rPr>
              <a:t>Multi-Node Mode:</a:t>
            </a:r>
            <a:r>
              <a:rPr sz="1800">
                <a:solidFill>
                  <a:srgbClr val="EEEEEE"/>
                </a:solidFill>
              </a:rPr>
              <a:t> Linear scaling with cluster</a:t>
            </a:r>
          </a:p>
          <a:p>
            <a:pPr>
              <a:spcAft>
                <a:spcPts val="800"/>
              </a:spcAft>
              <a:defRPr sz="1800">
                <a:solidFill>
                  <a:srgbClr val="EEEEEE"/>
                </a:solidFill>
              </a:defRPr>
            </a:pPr>
            <a:r>
              <a:t>Fault tolerance for failed trials</a:t>
            </a:r>
          </a:p>
          <a:p>
            <a:pPr>
              <a:spcAft>
                <a:spcPts val="800"/>
              </a:spcAft>
              <a:defRPr sz="1800">
                <a:solidFill>
                  <a:srgbClr val="EEEEEE"/>
                </a:solidFill>
              </a:defRPr>
            </a:pPr>
            <a:r>
              <a:t>Dashboard monitoring at http://localhost:8265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A90E2"/>
                </a:solidFill>
              </a:defRPr>
            </a:pPr>
            <a:r>
              <a:t>ECO Types Supported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926080.0" y="1188720"/>
          <a:ext cx="32918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ECOs</a:t>
                      </a:r>
                    </a:p>
                  </a:txBody>
                  <a:tcPr>
                    <a:solidFill>
                      <a:srgbClr val="4A90E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Topology Neutral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Cell Resize, Buffer Insert/Remove, Pin Swap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Placement Affecting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Timing-Driven Placement, Density Opt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Global/Aggressive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Full Optimization, Multi-Pass, VT Swap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Repair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Hold Repair, Clock Net Repair, Tie Fanout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A90E2"/>
                </a:solidFill>
              </a:defRPr>
            </a:pPr>
            <a:r>
              <a:t>Study Execution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EEEEE"/>
                </a:solidFill>
              </a:defRPr>
            </a:pPr>
            <a:r>
              <a:t>1. **Base Case Verification** - Validate initial design metrics</a:t>
            </a:r>
          </a:p>
          <a:p>
            <a:pPr>
              <a:spcAft>
                <a:spcPts val="800"/>
              </a:spcAft>
              <a:defRPr sz="1800">
                <a:solidFill>
                  <a:srgbClr val="EEEEEE"/>
                </a:solidFill>
              </a:defRPr>
            </a:pPr>
            <a:r>
              <a:t>2. **Stage Execution** - 20 stages with 25 trials each</a:t>
            </a:r>
          </a:p>
          <a:p>
            <a:pPr>
              <a:spcAft>
                <a:spcPts val="800"/>
              </a:spcAft>
              <a:defRPr sz="1800">
                <a:solidFill>
                  <a:srgbClr val="EEEEEE"/>
                </a:solidFill>
              </a:defRPr>
            </a:pPr>
            <a:r>
              <a:t>3. **Survivor Selection** - Keep best performing variants</a:t>
            </a:r>
          </a:p>
          <a:p>
            <a:pPr>
              <a:spcAft>
                <a:spcPts val="800"/>
              </a:spcAft>
              <a:defRPr sz="1800">
                <a:solidFill>
                  <a:srgbClr val="EEEEEE"/>
                </a:solidFill>
              </a:defRPr>
            </a:pPr>
            <a:r>
              <a:t>4. **Prior Learning** - Track ECO effectiveness</a:t>
            </a:r>
          </a:p>
          <a:p>
            <a:pPr>
              <a:spcAft>
                <a:spcPts val="800"/>
              </a:spcAft>
              <a:defRPr sz="1800">
                <a:solidFill>
                  <a:srgbClr val="EEEEEE"/>
                </a:solidFill>
              </a:defRPr>
            </a:pPr>
            <a:r>
              <a:t>5. **Checkpoint/Rollback** - Save state, recover from degradation</a:t>
            </a:r>
          </a:p>
          <a:p>
            <a:pPr>
              <a:spcAft>
                <a:spcPts val="800"/>
              </a:spcAft>
              <a:defRPr sz="1800">
                <a:solidFill>
                  <a:srgbClr val="EEEEEE"/>
                </a:solidFill>
              </a:defRPr>
            </a:pPr>
            <a:r>
              <a:t>6. **Visualization** - Generate heatmaps, trajectories</a:t>
            </a:r>
          </a:p>
          <a:p>
            <a:pPr>
              <a:spcAft>
                <a:spcPts val="800"/>
              </a:spcAft>
              <a:defRPr sz="1800">
                <a:solidFill>
                  <a:srgbClr val="EEEEEE"/>
                </a:solidFill>
              </a:defRPr>
            </a:pPr>
          </a:p>
          <a:p>
            <a:pPr>
              <a:spcAft>
                <a:spcPts val="800"/>
              </a:spcAft>
            </a:pPr>
            <a:r>
              <a:rPr b="1" sz="1800">
                <a:solidFill>
                  <a:srgbClr val="FFD700"/>
                </a:solidFill>
              </a:rPr>
              <a:t>Total: 500 trials per study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4A90E2"/>
                </a:solidFill>
              </a:defRPr>
            </a:pPr>
            <a:r>
              <a:t>Nangate45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50C878"/>
                </a:solidFill>
              </a:defRPr>
            </a:pPr>
            <a:r>
              <a:t>45nm Educational PDK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A90E2"/>
                </a:solidFill>
              </a:defRPr>
            </a:pPr>
            <a:r>
              <a:t>Nangate45 - Design Setup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926080.0" y="1188720"/>
          <a:ext cx="32918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Property</a:t>
                      </a:r>
                    </a:p>
                  </a:txBody>
                  <a:tcPr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4A90E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PDK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Nangate45 (45nm)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Design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Ibex RISC-V Core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Cell Count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~10,000 cells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Clock Period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Aggressive constraints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ODB Size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8.3 MB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A90E2"/>
                </a:solidFill>
              </a:defRPr>
            </a:pPr>
            <a:r>
              <a:t>Nangate45 - Stage Progression</a:t>
            </a:r>
          </a:p>
        </p:txBody>
      </p:sp>
      <p:pic>
        <p:nvPicPr>
          <p:cNvPr id="3" name="Picture 2" descr="stage_pro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88720"/>
            <a:ext cx="6858000" cy="61741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EEEEEE"/>
                </a:solidFill>
              </a:defRPr>
            </a:pPr>
            <a:r>
              <a:t>20 stages, funnel survivor selection (8 -&gt; 2)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A90E2"/>
                </a:solidFill>
              </a:defRPr>
            </a:pPr>
            <a:r>
              <a:t>Nangate45 - WNS Trajectory</a:t>
            </a:r>
          </a:p>
        </p:txBody>
      </p:sp>
      <p:pic>
        <p:nvPicPr>
          <p:cNvPr id="3" name="Picture 2" descr="wns_traje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88720"/>
            <a:ext cx="6858000" cy="455279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A90E2"/>
                </a:solidFill>
              </a:defRPr>
            </a:pPr>
            <a:r>
              <a:t>Nangate45 - Hot Ratio Trajectory</a:t>
            </a:r>
          </a:p>
        </p:txBody>
      </p:sp>
      <p:pic>
        <p:nvPicPr>
          <p:cNvPr id="3" name="Picture 2" descr="hot_ratio_traje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88720"/>
            <a:ext cx="6858000" cy="456557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A90E2"/>
                </a:solidFill>
              </a:defRPr>
            </a:pPr>
            <a:r>
              <a:t>Nangate45 - Final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280160.0" y="1188720"/>
          <a:ext cx="65836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Initial</a:t>
                      </a:r>
                    </a:p>
                  </a:txBody>
                  <a:tcPr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Final</a:t>
                      </a:r>
                    </a:p>
                  </a:txBody>
                  <a:tcPr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Improvement</a:t>
                      </a:r>
                    </a:p>
                  </a:txBody>
                  <a:tcPr>
                    <a:solidFill>
                      <a:srgbClr val="4A90E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WNS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-1848 ps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-1576 ps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+14.7%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hot_ratio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0.523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0.149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-71.6%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4A90E2"/>
                </a:solidFill>
              </a:defRPr>
            </a:pPr>
            <a:r>
              <a:t>ASAP7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50C878"/>
                </a:solidFill>
              </a:defRPr>
            </a:pPr>
            <a:r>
              <a:t>7nm Predictive PDK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A90E2"/>
                </a:solidFill>
              </a:defRPr>
            </a:pPr>
            <a:r>
              <a:t>ASAP7 - Design Setup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926080.0" y="1188720"/>
          <a:ext cx="32918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Property</a:t>
                      </a:r>
                    </a:p>
                  </a:txBody>
                  <a:tcPr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4A90E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PDK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ASAP7 (7nm predictive)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Design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Ibex RISC-V Core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Cell Count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~10,000 cells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Clock Period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Aggressive 7nm timing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ODB Size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~10 MB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A90E2"/>
                </a:solidFill>
              </a:defRPr>
            </a:pPr>
            <a:r>
              <a:t>ASAP7 - Stage Progression</a:t>
            </a:r>
          </a:p>
        </p:txBody>
      </p:sp>
      <p:pic>
        <p:nvPicPr>
          <p:cNvPr id="3" name="Picture 2" descr="stage_pro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88720"/>
            <a:ext cx="6858000" cy="61741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A90E2"/>
                </a:solidFill>
              </a:defRPr>
            </a:pPr>
            <a:r>
              <a:t>ASAP7 - WNS Trajectory</a:t>
            </a:r>
          </a:p>
        </p:txBody>
      </p:sp>
      <p:pic>
        <p:nvPicPr>
          <p:cNvPr id="3" name="Picture 2" descr="wns_traje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88720"/>
            <a:ext cx="6858000" cy="455279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A90E2"/>
                </a:solidFill>
              </a:defRPr>
            </a:pPr>
            <a:r>
              <a:t>ASAP7 - Final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280160.0" y="1188720"/>
          <a:ext cx="65836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Initial</a:t>
                      </a:r>
                    </a:p>
                  </a:txBody>
                  <a:tcPr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Final</a:t>
                      </a:r>
                    </a:p>
                  </a:txBody>
                  <a:tcPr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Improvement</a:t>
                      </a:r>
                    </a:p>
                  </a:txBody>
                  <a:tcPr>
                    <a:solidFill>
                      <a:srgbClr val="4A90E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WNS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-1067 ps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-1004 ps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+5.9%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hot_ratio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0.55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0.004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-99.3%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4A90E2"/>
                </a:solidFill>
              </a:defRPr>
            </a:pPr>
            <a:r>
              <a:t>Sky130 + Microwatt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50C878"/>
                </a:solidFill>
              </a:defRPr>
            </a:pPr>
            <a:r>
              <a:t>130nm Open PDK + OpenPOWER Core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A90E2"/>
                </a:solidFill>
              </a:defRPr>
            </a:pPr>
            <a:r>
              <a:t>Sky130 Microwatt - Design Setup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926080.0" y="1188720"/>
          <a:ext cx="32918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Property</a:t>
                      </a:r>
                    </a:p>
                  </a:txBody>
                  <a:tcPr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4A90E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PDK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Sky130HD (130nm)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Design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Microwatt OpenPOWER Core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Cell Count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162,637 cells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Clock Period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4ns (250 MHz)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ODB Size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95 MB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A90E2"/>
                </a:solidFill>
              </a:defRPr>
            </a:pPr>
            <a:r>
              <a:t>Sky130 Microwatt - Stage Progression</a:t>
            </a:r>
          </a:p>
        </p:txBody>
      </p:sp>
      <p:pic>
        <p:nvPicPr>
          <p:cNvPr id="3" name="Picture 2" descr="stage_pro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88720"/>
            <a:ext cx="6858000" cy="61741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EEEEEE"/>
                </a:solidFill>
              </a:defRPr>
            </a:pPr>
            <a:r>
              <a:t>Stage 6 (red): degradation detected but below rollback threshold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A90E2"/>
                </a:solidFill>
              </a:defRPr>
            </a:pPr>
            <a:r>
              <a:t>Sky130 Microwatt - WNS Trajectory</a:t>
            </a:r>
          </a:p>
        </p:txBody>
      </p:sp>
      <p:pic>
        <p:nvPicPr>
          <p:cNvPr id="3" name="Picture 2" descr="wns_traje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88720"/>
            <a:ext cx="6858000" cy="457328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A90E2"/>
                </a:solidFill>
              </a:defRPr>
            </a:pPr>
            <a:r>
              <a:t>Sky130 Microwatt - Hot Ratio Trajectory</a:t>
            </a:r>
          </a:p>
        </p:txBody>
      </p:sp>
      <p:pic>
        <p:nvPicPr>
          <p:cNvPr id="3" name="Picture 2" descr="hot_ratio_traje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88720"/>
            <a:ext cx="6858000" cy="456557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EEEEEE"/>
                </a:solidFill>
              </a:defRPr>
            </a:pPr>
            <a:r>
              <a:t>hot_ratio: 0.097 -&gt; 0.0003 (99.7% reduction)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A90E2"/>
                </a:solidFill>
              </a:defRPr>
            </a:pPr>
            <a:r>
              <a:t>Sky130 Microwatt - Final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280160.0" y="1188720"/>
          <a:ext cx="65836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Initial</a:t>
                      </a:r>
                    </a:p>
                  </a:txBody>
                  <a:tcPr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Final</a:t>
                      </a:r>
                    </a:p>
                  </a:txBody>
                  <a:tcPr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Improvement</a:t>
                      </a:r>
                    </a:p>
                  </a:txBody>
                  <a:tcPr>
                    <a:solidFill>
                      <a:srgbClr val="4A90E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WNS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-2989 ps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-1466 ps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+51.0%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hot_ratio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0.097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0.0003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-99.7%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A90E2"/>
                </a:solidFill>
              </a:defRPr>
            </a:pPr>
            <a:r>
              <a:t>The 'Long Pole in the Tent'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800">
                <a:solidFill>
                  <a:srgbClr val="FFD700"/>
                </a:solidFill>
              </a:rPr>
              <a:t>Observation:</a:t>
            </a:r>
            <a:r>
              <a:rPr sz="1800">
                <a:solidFill>
                  <a:srgbClr val="EEEEEE"/>
                </a:solidFill>
              </a:rPr>
              <a:t> hot_ratio improved 99.7% but WNS only 51%</a:t>
            </a:r>
          </a:p>
          <a:p>
            <a:pPr>
              <a:spcAft>
                <a:spcPts val="800"/>
              </a:spcAft>
              <a:defRPr sz="1800">
                <a:solidFill>
                  <a:srgbClr val="EEEEEE"/>
                </a:solidFill>
              </a:defRPr>
            </a:pPr>
          </a:p>
          <a:p>
            <a:pPr>
              <a:spcAft>
                <a:spcPts val="800"/>
              </a:spcAft>
            </a:pPr>
            <a:r>
              <a:rPr b="1" sz="1800">
                <a:solidFill>
                  <a:srgbClr val="FFD700"/>
                </a:solidFill>
              </a:rPr>
              <a:t>hot_ratio:</a:t>
            </a:r>
            <a:r>
              <a:rPr sz="1800">
                <a:solidFill>
                  <a:srgbClr val="EEEEEE"/>
                </a:solidFill>
              </a:rPr>
              <a:t> Fraction of paths violating timing (9.7% -&gt; 0.03%)</a:t>
            </a:r>
          </a:p>
          <a:p>
            <a:pPr>
              <a:spcAft>
                <a:spcPts val="800"/>
              </a:spcAft>
            </a:pPr>
            <a:r>
              <a:rPr b="1" sz="1800">
                <a:solidFill>
                  <a:srgbClr val="FFD700"/>
                </a:solidFill>
              </a:rPr>
              <a:t>WNS:</a:t>
            </a:r>
            <a:r>
              <a:rPr sz="1800">
                <a:solidFill>
                  <a:srgbClr val="EEEEEE"/>
                </a:solidFill>
              </a:rPr>
              <a:t> Worst single path's negative slack (-2989ps -&gt; -1466ps)</a:t>
            </a:r>
          </a:p>
          <a:p>
            <a:pPr>
              <a:spcAft>
                <a:spcPts val="800"/>
              </a:spcAft>
              <a:defRPr sz="1800">
                <a:solidFill>
                  <a:srgbClr val="EEEEEE"/>
                </a:solidFill>
              </a:defRPr>
            </a:pPr>
          </a:p>
          <a:p>
            <a:pPr>
              <a:spcAft>
                <a:spcPts val="800"/>
              </a:spcAft>
            </a:pPr>
            <a:r>
              <a:rPr b="1" sz="1800">
                <a:solidFill>
                  <a:srgbClr val="FFD700"/>
                </a:solidFill>
              </a:rPr>
              <a:t>Meaning:</a:t>
            </a:r>
          </a:p>
          <a:p>
            <a:pPr>
              <a:spcAft>
                <a:spcPts val="800"/>
              </a:spcAft>
              <a:defRPr sz="1800">
                <a:solidFill>
                  <a:srgbClr val="EEEEEE"/>
                </a:solidFill>
              </a:defRPr>
            </a:pPr>
            <a:r>
              <a:t>We fixed 99.7% of all timing violations</a:t>
            </a:r>
          </a:p>
          <a:p>
            <a:pPr>
              <a:spcAft>
                <a:spcPts val="800"/>
              </a:spcAft>
              <a:defRPr sz="1800">
                <a:solidFill>
                  <a:srgbClr val="EEEEEE"/>
                </a:solidFill>
              </a:defRPr>
            </a:pPr>
            <a:r>
              <a:t>But the single worst path only improved 51%</a:t>
            </a:r>
          </a:p>
          <a:p>
            <a:pPr>
              <a:spcAft>
                <a:spcPts val="800"/>
              </a:spcAft>
              <a:defRPr sz="1800">
                <a:solidFill>
                  <a:srgbClr val="EEEEEE"/>
                </a:solidFill>
              </a:defRPr>
            </a:pPr>
            <a:r>
              <a:t>ONE stubborn path dominates WNS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A90E2"/>
                </a:solidFill>
              </a:defRPr>
            </a:pPr>
            <a:r>
              <a:t>Why Does the Worst Path Resist?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800">
                <a:solidFill>
                  <a:srgbClr val="FFD700"/>
                </a:solidFill>
              </a:rPr>
              <a:t>Long combinational depth</a:t>
            </a:r>
            <a:r>
              <a:rPr sz="1800">
                <a:solidFill>
                  <a:srgbClr val="EEEEEE"/>
                </a:solidFill>
              </a:rPr>
              <a:t> - Many logic stages in series</a:t>
            </a:r>
          </a:p>
          <a:p>
            <a:pPr>
              <a:spcAft>
                <a:spcPts val="800"/>
              </a:spcAft>
            </a:pPr>
            <a:r>
              <a:rPr b="1" sz="1800">
                <a:solidFill>
                  <a:srgbClr val="FFD700"/>
                </a:solidFill>
              </a:rPr>
              <a:t>Placement-limited</a:t>
            </a:r>
            <a:r>
              <a:rPr sz="1800">
                <a:solidFill>
                  <a:srgbClr val="EEEEEE"/>
                </a:solidFill>
              </a:rPr>
              <a:t> - Cells far apart, wire delay dominates</a:t>
            </a:r>
          </a:p>
          <a:p>
            <a:pPr>
              <a:spcAft>
                <a:spcPts val="800"/>
              </a:spcAft>
            </a:pPr>
            <a:r>
              <a:rPr b="1" sz="1800">
                <a:solidFill>
                  <a:srgbClr val="FFD700"/>
                </a:solidFill>
              </a:rPr>
              <a:t>Technology limits</a:t>
            </a:r>
            <a:r>
              <a:rPr sz="1800">
                <a:solidFill>
                  <a:srgbClr val="EEEEEE"/>
                </a:solidFill>
              </a:rPr>
              <a:t> - Already using max drive strength</a:t>
            </a:r>
          </a:p>
          <a:p>
            <a:pPr>
              <a:spcAft>
                <a:spcPts val="800"/>
              </a:spcAft>
            </a:pPr>
            <a:r>
              <a:rPr b="1" sz="1800">
                <a:solidFill>
                  <a:srgbClr val="FFD700"/>
                </a:solidFill>
              </a:rPr>
              <a:t>Critical logic</a:t>
            </a:r>
            <a:r>
              <a:rPr sz="1800">
                <a:solidFill>
                  <a:srgbClr val="EEEEEE"/>
                </a:solidFill>
              </a:rPr>
              <a:t> - Carry chains, multipliers, barrel shifters</a:t>
            </a:r>
          </a:p>
          <a:p>
            <a:pPr>
              <a:spcAft>
                <a:spcPts val="800"/>
              </a:spcAft>
            </a:pPr>
            <a:r>
              <a:rPr b="1" sz="1800">
                <a:solidFill>
                  <a:srgbClr val="FFD700"/>
                </a:solidFill>
              </a:rPr>
              <a:t>Routing congestion</a:t>
            </a:r>
            <a:r>
              <a:rPr sz="1800">
                <a:solidFill>
                  <a:srgbClr val="EEEEEE"/>
                </a:solidFill>
              </a:rPr>
              <a:t> - Detours adding wire delay</a:t>
            </a:r>
          </a:p>
          <a:p>
            <a:pPr>
              <a:spcAft>
                <a:spcPts val="800"/>
              </a:spcAft>
              <a:defRPr sz="1800">
                <a:solidFill>
                  <a:srgbClr val="EEEEEE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EEEEEE"/>
                </a:solidFill>
              </a:defRPr>
            </a:pPr>
            <a:r>
              <a:t>ECOs fix 'moderately bad' paths but struggle with 'truly terrible' ones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A90E2"/>
                </a:solidFill>
              </a:defRPr>
            </a:pPr>
            <a:r>
              <a:t>Cross-PDK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.0" y="11887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PDK</a:t>
                      </a:r>
                    </a:p>
                  </a:txBody>
                  <a:tcPr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Design</a:t>
                      </a:r>
                    </a:p>
                  </a:txBody>
                  <a:tcPr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Cells</a:t>
                      </a:r>
                    </a:p>
                  </a:txBody>
                  <a:tcPr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WNS Impr.</a:t>
                      </a:r>
                    </a:p>
                  </a:txBody>
                  <a:tcPr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hot_ratio Red.</a:t>
                      </a:r>
                    </a:p>
                  </a:txBody>
                  <a:tcPr>
                    <a:solidFill>
                      <a:srgbClr val="4A90E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Nangate45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Ibex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~10K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+14.7%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-71.6%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ASAP7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Ibex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~10K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+5.9%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-99.3%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Sky130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Microwatt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162K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+51.0%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-99.7%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A90E2"/>
                </a:solidFill>
              </a:defRPr>
            </a:pPr>
            <a:r>
              <a:t>ECO Effectiveness Leaderboard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280160.0" y="1188720"/>
          <a:ext cx="65836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ECO</a:t>
                      </a:r>
                    </a:p>
                  </a:txBody>
                  <a:tcPr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Applications</a:t>
                      </a:r>
                    </a:p>
                  </a:txBody>
                  <a:tcPr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Success</a:t>
                      </a:r>
                    </a:p>
                  </a:txBody>
                  <a:tcPr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Rate</a:t>
                      </a:r>
                    </a:p>
                  </a:txBody>
                  <a:tcPr>
                    <a:solidFill>
                      <a:srgbClr val="4A90E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hold_repair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101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101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aggressive_timing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99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99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multi_pass_timing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97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97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buffer_insertion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77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77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gate_cloning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dead_logic_elim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72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A90E2"/>
                </a:solidFill>
              </a:defRPr>
            </a:pPr>
            <a:r>
              <a:t>ECO Success by Category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103120.0" y="1188720"/>
          <a:ext cx="49377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ECOs</a:t>
                      </a:r>
                    </a:p>
                  </a:txBody>
                  <a:tcPr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Success</a:t>
                      </a:r>
                    </a:p>
                  </a:txBody>
                  <a:tcPr>
                    <a:solidFill>
                      <a:srgbClr val="4A90E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Repair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hold, sequential, design, tie_fanout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Timing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aggressive, multi_pass, full_opt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Cell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resize, swap, buffer insert/remove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Placement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timing_driven, density, iterative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Failed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gate_cloning, dead_logic_elim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EEEEE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2A2A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A90E2"/>
                </a:solidFill>
              </a:defRPr>
            </a:pPr>
            <a:r>
              <a:t>Key Noodle2 Features Demonstrated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800">
                <a:solidFill>
                  <a:srgbClr val="FFD700"/>
                </a:solidFill>
              </a:rPr>
              <a:t>Parallel Execution</a:t>
            </a:r>
            <a:r>
              <a:rPr sz="1800">
                <a:solidFill>
                  <a:srgbClr val="EEEEEE"/>
                </a:solidFill>
              </a:rPr>
              <a:t> - Ray-based trial parallelism</a:t>
            </a:r>
          </a:p>
          <a:p>
            <a:pPr>
              <a:spcAft>
                <a:spcPts val="800"/>
              </a:spcAft>
            </a:pPr>
            <a:r>
              <a:rPr b="1" sz="1800">
                <a:solidFill>
                  <a:srgbClr val="FFD700"/>
                </a:solidFill>
              </a:rPr>
              <a:t>Prior Learning</a:t>
            </a:r>
            <a:r>
              <a:rPr sz="1800">
                <a:solidFill>
                  <a:srgbClr val="EEEEEE"/>
                </a:solidFill>
              </a:rPr>
              <a:t> - ECO effectiveness tracking</a:t>
            </a:r>
          </a:p>
          <a:p>
            <a:pPr>
              <a:spcAft>
                <a:spcPts val="800"/>
              </a:spcAft>
            </a:pPr>
            <a:r>
              <a:rPr b="1" sz="1800">
                <a:solidFill>
                  <a:srgbClr val="FFD700"/>
                </a:solidFill>
              </a:rPr>
              <a:t>Checkpoint/Rollback</a:t>
            </a:r>
            <a:r>
              <a:rPr sz="1800">
                <a:solidFill>
                  <a:srgbClr val="EEEEEE"/>
                </a:solidFill>
              </a:rPr>
              <a:t> - Recovery from degradation</a:t>
            </a:r>
          </a:p>
          <a:p>
            <a:pPr>
              <a:spcAft>
                <a:spcPts val="800"/>
              </a:spcAft>
            </a:pPr>
            <a:r>
              <a:rPr b="1" sz="1800">
                <a:solidFill>
                  <a:srgbClr val="FFD700"/>
                </a:solidFill>
              </a:rPr>
              <a:t>Degradation Detection</a:t>
            </a:r>
            <a:r>
              <a:rPr sz="1800">
                <a:solidFill>
                  <a:srgbClr val="EEEEEE"/>
                </a:solidFill>
              </a:rPr>
              <a:t> - Stage 6 flagged without rollback</a:t>
            </a:r>
          </a:p>
          <a:p>
            <a:pPr>
              <a:spcAft>
                <a:spcPts val="800"/>
              </a:spcAft>
            </a:pPr>
            <a:r>
              <a:rPr b="1" sz="1800">
                <a:solidFill>
                  <a:srgbClr val="FFD700"/>
                </a:solidFill>
              </a:rPr>
              <a:t>Multi-PDK Support</a:t>
            </a:r>
            <a:r>
              <a:rPr sz="1800">
                <a:solidFill>
                  <a:srgbClr val="EEEEEE"/>
                </a:solidFill>
              </a:rPr>
              <a:t> - Nangate45, ASAP7, Sky130</a:t>
            </a:r>
          </a:p>
          <a:p>
            <a:pPr>
              <a:spcAft>
                <a:spcPts val="800"/>
              </a:spcAft>
            </a:pPr>
            <a:r>
              <a:rPr b="1" sz="1800">
                <a:solidFill>
                  <a:srgbClr val="FFD700"/>
                </a:solidFill>
              </a:rPr>
              <a:t>Safety Domains</a:t>
            </a:r>
            <a:r>
              <a:rPr sz="1800">
                <a:solidFill>
                  <a:srgbClr val="EEEEEE"/>
                </a:solidFill>
              </a:rPr>
              <a:t> - Sandbox, guarded, locked modes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A90E2"/>
                </a:solidFill>
              </a:defRPr>
            </a:pPr>
            <a:r>
              <a:t>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EEEEE"/>
                </a:solidFill>
              </a:defRPr>
            </a:pPr>
            <a:r>
              <a:t>Noodle2 improved timing on **3 different PDKs**</a:t>
            </a:r>
          </a:p>
          <a:p>
            <a:pPr>
              <a:spcAft>
                <a:spcPts val="800"/>
              </a:spcAft>
            </a:pPr>
            <a:r>
              <a:rPr b="1" sz="1800">
                <a:solidFill>
                  <a:srgbClr val="FFD700"/>
                </a:solidFill>
              </a:rPr>
              <a:t>162K cell Microwatt</a:t>
            </a:r>
            <a:r>
              <a:rPr sz="1800">
                <a:solidFill>
                  <a:srgbClr val="EEEEEE"/>
                </a:solidFill>
              </a:rPr>
              <a:t> achieved 51% WNS, 99.7% violation reduction</a:t>
            </a:r>
          </a:p>
          <a:p>
            <a:pPr>
              <a:spcAft>
                <a:spcPts val="800"/>
              </a:spcAft>
              <a:defRPr sz="1800">
                <a:solidFill>
                  <a:srgbClr val="EEEEEE"/>
                </a:solidFill>
              </a:defRPr>
            </a:pPr>
            <a:r>
              <a:t>All executions used **real OpenROAD** - no simulation</a:t>
            </a:r>
          </a:p>
          <a:p>
            <a:pPr>
              <a:spcAft>
                <a:spcPts val="800"/>
              </a:spcAft>
              <a:defRPr sz="1800">
                <a:solidFill>
                  <a:srgbClr val="EEEEEE"/>
                </a:solidFill>
              </a:defRPr>
            </a:pPr>
            <a:r>
              <a:t>Prior learning effectively filters ineffective ECOs</a:t>
            </a:r>
          </a:p>
          <a:p>
            <a:pPr>
              <a:spcAft>
                <a:spcPts val="800"/>
              </a:spcAft>
              <a:defRPr sz="1800">
                <a:solidFill>
                  <a:srgbClr val="EEEEEE"/>
                </a:solidFill>
              </a:defRPr>
            </a:pPr>
            <a:r>
              <a:t>System scales from 10K to 160K+ cells</a:t>
            </a:r>
          </a:p>
          <a:p>
            <a:pPr>
              <a:spcAft>
                <a:spcPts val="800"/>
              </a:spcAft>
              <a:defRPr sz="1800">
                <a:solidFill>
                  <a:srgbClr val="EEEEEE"/>
                </a:solidFill>
              </a:defRPr>
            </a:pPr>
          </a:p>
          <a:p>
            <a:pPr>
              <a:spcAft>
                <a:spcPts val="800"/>
              </a:spcAft>
            </a:pPr>
            <a:r>
              <a:rPr b="1" sz="1800">
                <a:solidFill>
                  <a:srgbClr val="FFD700"/>
                </a:solidFill>
              </a:rPr>
              <a:t>Key insight:</a:t>
            </a:r>
            <a:r>
              <a:rPr sz="1800">
                <a:solidFill>
                  <a:srgbClr val="EEEEEE"/>
                </a:solidFill>
              </a:rPr>
              <a:t> ECOs excel at fixing most violations;</a:t>
            </a:r>
          </a:p>
          <a:p>
            <a:pPr>
              <a:spcAft>
                <a:spcPts val="800"/>
              </a:spcAft>
              <a:defRPr sz="1800">
                <a:solidFill>
                  <a:srgbClr val="EEEEEE"/>
                </a:solidFill>
              </a:defRPr>
            </a:pPr>
            <a:r>
              <a:t>worst path(s) may require architectural changes</a:t>
            </a:r>
          </a:p>
          <a:p>
            <a:pPr>
              <a:spcAft>
                <a:spcPts val="800"/>
              </a:spcAft>
              <a:defRPr sz="1800">
                <a:solidFill>
                  <a:srgbClr val="EEEEEE"/>
                </a:solidFill>
              </a:defRPr>
            </a:pPr>
          </a:p>
          <a:p>
            <a:pPr>
              <a:spcAft>
                <a:spcPts val="800"/>
              </a:spcAft>
            </a:pPr>
            <a:r>
              <a:rPr b="1" sz="1800">
                <a:solidFill>
                  <a:srgbClr val="FFD700"/>
                </a:solidFill>
              </a:rPr>
              <a:t>Total: 1,500 real ECO trials executed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4A90E2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50C878"/>
                </a:solidFill>
              </a:defRPr>
            </a:pPr>
            <a:r>
              <a:t>Noodle2 - Physical Design ECO 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EEEEEE"/>
                </a:solidFill>
              </a:defRPr>
            </a:pPr>
            <a:r>
              <a:t>Yaakoub Elkhamra, PhD</a:t>
            </a:r>
          </a:p>
          <a:p>
            <a:pPr algn="ctr">
              <a:defRPr sz="1600">
                <a:solidFill>
                  <a:srgbClr val="EEEEEE"/>
                </a:solidFill>
              </a:defRPr>
            </a:pPr>
            <a:r>
              <a:t>All visualizations from actual OpenROAD execution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